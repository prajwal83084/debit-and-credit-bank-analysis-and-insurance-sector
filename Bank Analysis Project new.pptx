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4" r:id="rId4"/>
  </p:sldMasterIdLst>
  <p:notesMasterIdLst>
    <p:notesMasterId r:id="rId16"/>
  </p:notesMasterIdLst>
  <p:handoutMasterIdLst>
    <p:handoutMasterId r:id="rId17"/>
  </p:handoutMasterIdLst>
  <p:sldIdLst>
    <p:sldId id="256" r:id="rId5"/>
    <p:sldId id="284" r:id="rId6"/>
    <p:sldId id="286" r:id="rId7"/>
    <p:sldId id="289" r:id="rId8"/>
    <p:sldId id="287" r:id="rId9"/>
    <p:sldId id="291" r:id="rId10"/>
    <p:sldId id="288" r:id="rId11"/>
    <p:sldId id="292" r:id="rId12"/>
    <p:sldId id="294" r:id="rId13"/>
    <p:sldId id="295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5AC"/>
    <a:srgbClr val="103350"/>
    <a:srgbClr val="0C4360"/>
    <a:srgbClr val="1B6872"/>
    <a:srgbClr val="63B7C6"/>
    <a:srgbClr val="002136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Debit%20&amp;%20Credit%20Dashboard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wnloads\Debit%20&amp;%20Credit%20Dashboard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DELL\Downloads\Debit%20&amp;%20Credit%20Dashboard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[Debit &amp; Credit Dashboard (1).xlsx]Bottom 10 Customers!PivotTable5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>
                <a:solidFill>
                  <a:schemeClr val="bg1"/>
                </a:solidFill>
              </a:rPr>
              <a:t>Bottom 10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solidFill>
              <a:schemeClr val="accent2"/>
            </a:soli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numFmt formatCode="#,##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numFmt formatCode="#,##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numFmt formatCode="#,##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areaChart>
        <c:grouping val="stacked"/>
        <c:varyColors val="0"/>
        <c:ser>
          <c:idx val="0"/>
          <c:order val="0"/>
          <c:tx>
            <c:strRef>
              <c:f>'Bottom 10 Customers'!$B$3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>
              <a:noFill/>
            </a:ln>
            <a:effectLst>
              <a:innerShdw blurRad="114300">
                <a:schemeClr val="accent1">
                  <a:lumMod val="75000"/>
                </a:schemeClr>
              </a:innerShdw>
            </a:effectLst>
          </c:spPr>
          <c:dLbls>
            <c:numFmt formatCode="#,##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'Bottom 10 Customers'!$A$4:$A$14</c:f>
              <c:strCache>
                <c:ptCount val="10"/>
                <c:pt idx="0">
                  <c:v>Amanda Mosley</c:v>
                </c:pt>
                <c:pt idx="1">
                  <c:v>Barbara Hoffman</c:v>
                </c:pt>
                <c:pt idx="2">
                  <c:v>Brooke Pierce</c:v>
                </c:pt>
                <c:pt idx="3">
                  <c:v>Gary Calhoun</c:v>
                </c:pt>
                <c:pt idx="4">
                  <c:v>Helen Wilson</c:v>
                </c:pt>
                <c:pt idx="5">
                  <c:v>Jacob Villarreal MD</c:v>
                </c:pt>
                <c:pt idx="6">
                  <c:v>Jesus Jackson</c:v>
                </c:pt>
                <c:pt idx="7">
                  <c:v>Natalie Warner</c:v>
                </c:pt>
                <c:pt idx="8">
                  <c:v>Susan Cannon</c:v>
                </c:pt>
                <c:pt idx="9">
                  <c:v>Suzanne Bailey</c:v>
                </c:pt>
              </c:strCache>
            </c:strRef>
          </c:cat>
          <c:val>
            <c:numRef>
              <c:f>'Bottom 10 Customers'!$B$4:$B$14</c:f>
              <c:numCache>
                <c:formatCode>General</c:formatCode>
                <c:ptCount val="10"/>
                <c:pt idx="0">
                  <c:v>501.67</c:v>
                </c:pt>
                <c:pt idx="1">
                  <c:v>502.9</c:v>
                </c:pt>
                <c:pt idx="2">
                  <c:v>501.82</c:v>
                </c:pt>
                <c:pt idx="3">
                  <c:v>502.25</c:v>
                </c:pt>
                <c:pt idx="4">
                  <c:v>502.92</c:v>
                </c:pt>
                <c:pt idx="5">
                  <c:v>501.05</c:v>
                </c:pt>
                <c:pt idx="6">
                  <c:v>500.96</c:v>
                </c:pt>
                <c:pt idx="7">
                  <c:v>500.68</c:v>
                </c:pt>
                <c:pt idx="8">
                  <c:v>501.94</c:v>
                </c:pt>
                <c:pt idx="9">
                  <c:v>501.78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53-429D-A1D4-0B4255E82A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1484087136"/>
        <c:axId val="1484091936"/>
      </c:areaChart>
      <c:catAx>
        <c:axId val="1484087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20" normalizeH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4091936"/>
        <c:crosses val="autoZero"/>
        <c:auto val="1"/>
        <c:lblAlgn val="ctr"/>
        <c:lblOffset val="100"/>
        <c:noMultiLvlLbl val="0"/>
      </c:catAx>
      <c:valAx>
        <c:axId val="148409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40871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[Debit &amp; Credit Dashboard (1).xlsx]Branch Transaction Volume!PivotTable2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050" dirty="0" err="1"/>
              <a:t>Branchwise</a:t>
            </a:r>
            <a:r>
              <a:rPr lang="en-US" sz="1050" dirty="0"/>
              <a:t> Amount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rgbClr r="0" g="0" b="0">
                <a:shade val="25000"/>
                <a:satMod val="140000"/>
              </a:scrgbClr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rgbClr r="0" g="0" b="0">
                <a:shade val="25000"/>
                <a:satMod val="140000"/>
              </a:scrgbClr>
            </a:contourClr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rgbClr r="0" g="0" b="0">
                <a:shade val="25000"/>
                <a:satMod val="140000"/>
              </a:scrgbClr>
            </a:contourClr>
          </a:sp3d>
        </c:spPr>
        <c:marker>
          <c:symbol val="none"/>
        </c:marke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rgbClr r="0" g="0" b="0">
                <a:shade val="25000"/>
                <a:satMod val="140000"/>
              </a:scrgbClr>
            </a:contourClr>
          </a:sp3d>
        </c:spPr>
        <c:marker>
          <c:symbol val="none"/>
        </c:marke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rgbClr r="0" g="0" b="0">
                <a:shade val="25000"/>
                <a:satMod val="140000"/>
              </a:scrgbClr>
            </a:contourClr>
          </a:sp3d>
        </c:spPr>
        <c:marker>
          <c:symbol val="none"/>
        </c:marker>
        <c:dLbl>
          <c:idx val="0"/>
          <c:numFmt formatCode="#,##0,,&quot;M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965740393561915"/>
          <c:y val="0.14013333333333333"/>
          <c:w val="0.72331143792211161"/>
          <c:h val="0.7754222222222222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'Branch Transaction Volume'!$B$3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shade val="75000"/>
                <a:satMod val="160000"/>
              </a:schemeClr>
            </a:solidFill>
            <a:ln>
              <a:noFill/>
            </a:ln>
            <a:effectLst>
              <a:outerShdw blurRad="76200" dist="25400" dir="5400000" algn="tl" rotWithShape="0">
                <a:srgbClr val="000000">
                  <a:alpha val="55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l"/>
            </a:scene3d>
            <a:sp3d contourW="19050" prstMaterial="flat">
              <a:bevelT w="0" h="0" prst="coolSlant"/>
              <a:contourClr>
                <a:scrgbClr r="0" g="0" b="0">
                  <a:shade val="25000"/>
                  <a:satMod val="140000"/>
                </a:scrgbClr>
              </a:contourClr>
            </a:sp3d>
          </c:spPr>
          <c:invertIfNegative val="0"/>
          <c:dLbls>
            <c:numFmt formatCode="#,##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'Branch Transaction Volume'!$A$4:$A$9</c:f>
              <c:strCache>
                <c:ptCount val="6"/>
                <c:pt idx="0">
                  <c:v>North Branch</c:v>
                </c:pt>
                <c:pt idx="1">
                  <c:v>Suburban Branch</c:v>
                </c:pt>
                <c:pt idx="2">
                  <c:v>Downtown Branch</c:v>
                </c:pt>
                <c:pt idx="3">
                  <c:v>East Branch</c:v>
                </c:pt>
                <c:pt idx="4">
                  <c:v>Main Branch</c:v>
                </c:pt>
                <c:pt idx="5">
                  <c:v>City Center Branch</c:v>
                </c:pt>
              </c:strCache>
            </c:strRef>
          </c:cat>
          <c:val>
            <c:numRef>
              <c:f>'Branch Transaction Volume'!$B$4:$B$9</c:f>
              <c:numCache>
                <c:formatCode>General</c:formatCode>
                <c:ptCount val="6"/>
                <c:pt idx="0">
                  <c:v>41677131.719999984</c:v>
                </c:pt>
                <c:pt idx="1">
                  <c:v>42176276.350000016</c:v>
                </c:pt>
                <c:pt idx="2">
                  <c:v>42587216.190000013</c:v>
                </c:pt>
                <c:pt idx="3">
                  <c:v>42697111.170000106</c:v>
                </c:pt>
                <c:pt idx="4">
                  <c:v>42839450.409999952</c:v>
                </c:pt>
                <c:pt idx="5">
                  <c:v>42911469.790000051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5C-4E85-9024-42E55190F22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662369472"/>
        <c:axId val="1662370432"/>
      </c:barChart>
      <c:catAx>
        <c:axId val="16623694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2370432"/>
        <c:crosses val="autoZero"/>
        <c:auto val="1"/>
        <c:lblAlgn val="ctr"/>
        <c:lblOffset val="100"/>
        <c:noMultiLvlLbl val="0"/>
      </c:catAx>
      <c:valAx>
        <c:axId val="1662370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2369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[Debit &amp; Credit Dashboard (1).xlsx]Transaction Method Distribution!PivotTable3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 sz="1050" dirty="0">
                <a:solidFill>
                  <a:schemeClr val="bg1"/>
                </a:solidFill>
              </a:rPr>
              <a:t>Transaction Method Distribution</a:t>
            </a:r>
            <a:endParaRPr lang="en-IN" sz="1050" dirty="0">
              <a:solidFill>
                <a:schemeClr val="bg1"/>
              </a:solidFill>
            </a:endParaRPr>
          </a:p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IN" dirty="0"/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5"/>
      </c:pivotFmt>
      <c:pivotFmt>
        <c:idx val="6"/>
      </c:pivotFmt>
      <c:pivotFmt>
        <c:idx val="7"/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rgbClr r="0" g="0" b="0">
                <a:shade val="35000"/>
                <a:satMod val="130000"/>
              </a:scrgbClr>
            </a:contourClr>
          </a:sp3d>
        </c:spPr>
      </c:pivotFmt>
    </c:pivotFmts>
    <c:plotArea>
      <c:layout>
        <c:manualLayout>
          <c:layoutTarget val="inner"/>
          <c:xMode val="edge"/>
          <c:yMode val="edge"/>
          <c:x val="0.21359088180180835"/>
          <c:y val="0.1253794994249062"/>
          <c:w val="0.53816107846526096"/>
          <c:h val="0.76486657349672982"/>
        </c:manualLayout>
      </c:layout>
      <c:doughnutChart>
        <c:varyColors val="1"/>
        <c:ser>
          <c:idx val="0"/>
          <c:order val="0"/>
          <c:tx>
            <c:strRef>
              <c:f>'Transaction Method Distribution'!$B$3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5000"/>
                  <a:satMod val="160000"/>
                </a:schemeClr>
              </a:solidFill>
              <a:ln>
                <a:noFill/>
              </a:ln>
              <a:effectLst>
                <a:outerShdw blurRad="50800" dist="15240" dir="5400000" algn="tl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l"/>
              </a:scene3d>
              <a:sp3d contourW="9525" prstMaterial="flat">
                <a:bevelT w="0" h="0" prst="coolSlant"/>
                <a:contourClr>
                  <a:scrgbClr r="0" g="0" b="0">
                    <a:shade val="35000"/>
                    <a:satMod val="13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C8A-4764-85A5-052360F7B4D4}"/>
              </c:ext>
            </c:extLst>
          </c:dPt>
          <c:dPt>
            <c:idx val="1"/>
            <c:bubble3D val="0"/>
            <c:spPr>
              <a:solidFill>
                <a:schemeClr val="accent2">
                  <a:shade val="75000"/>
                  <a:satMod val="160000"/>
                </a:schemeClr>
              </a:solidFill>
              <a:ln>
                <a:noFill/>
              </a:ln>
              <a:effectLst>
                <a:outerShdw blurRad="50800" dist="15240" dir="5400000" algn="tl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l"/>
              </a:scene3d>
              <a:sp3d contourW="9525" prstMaterial="flat">
                <a:bevelT w="0" h="0" prst="coolSlant"/>
                <a:contourClr>
                  <a:scrgbClr r="0" g="0" b="0">
                    <a:shade val="35000"/>
                    <a:satMod val="13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C8A-4764-85A5-052360F7B4D4}"/>
              </c:ext>
            </c:extLst>
          </c:dPt>
          <c:dPt>
            <c:idx val="2"/>
            <c:bubble3D val="0"/>
            <c:spPr>
              <a:solidFill>
                <a:schemeClr val="accent3">
                  <a:shade val="75000"/>
                  <a:satMod val="160000"/>
                </a:schemeClr>
              </a:solidFill>
              <a:ln>
                <a:noFill/>
              </a:ln>
              <a:effectLst>
                <a:outerShdw blurRad="50800" dist="15240" dir="5400000" algn="tl" rotWithShape="0">
                  <a:srgbClr val="000000">
                    <a:alpha val="7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l"/>
              </a:scene3d>
              <a:sp3d contourW="9525" prstMaterial="flat">
                <a:bevelT w="0" h="0" prst="coolSlant"/>
                <a:contourClr>
                  <a:scrgbClr r="0" g="0" b="0">
                    <a:shade val="35000"/>
                    <a:satMod val="130000"/>
                  </a:scrgb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C8A-4764-85A5-052360F7B4D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C8A-4764-85A5-052360F7B4D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1C8A-4764-85A5-052360F7B4D4}"/>
                </c:ext>
              </c:extLst>
            </c:dLbl>
            <c:dLbl>
              <c:idx val="2"/>
              <c:layout>
                <c:manualLayout>
                  <c:x val="-3.5298549380214436E-17"/>
                  <c:y val="-4.6931121448503227E-17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8A-4764-85A5-052360F7B4D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'Transaction Method Distribution'!$A$4:$A$6</c:f>
              <c:strCache>
                <c:ptCount val="3"/>
                <c:pt idx="0">
                  <c:v>Bank Transfer</c:v>
                </c:pt>
                <c:pt idx="1">
                  <c:v>Credit Card</c:v>
                </c:pt>
                <c:pt idx="2">
                  <c:v>Debit Card</c:v>
                </c:pt>
              </c:strCache>
            </c:strRef>
          </c:cat>
          <c:val>
            <c:numRef>
              <c:f>'Transaction Method Distribution'!$B$4:$B$6</c:f>
              <c:numCache>
                <c:formatCode>General</c:formatCode>
                <c:ptCount val="3"/>
                <c:pt idx="0">
                  <c:v>84800788.420000121</c:v>
                </c:pt>
                <c:pt idx="1">
                  <c:v>84929361.03000018</c:v>
                </c:pt>
                <c:pt idx="2">
                  <c:v>85158506.179999754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8A-4764-85A5-052360F7B4D4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cs:styleClr val="auto">
        <a:lumMod val="50000"/>
      </cs:styleClr>
    </cs:fontRef>
    <cs:defRPr sz="133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74000"/>
        </a:schemeClr>
      </a:solidFill>
      <a:effectLst>
        <a:innerShdw blurRad="114300">
          <a:schemeClr val="phClr">
            <a:lumMod val="75000"/>
          </a:schemeClr>
        </a:innerShdw>
      </a:effectLst>
    </cs:spPr>
  </cs:dataPoint>
  <cs:dataPoint3D>
    <cs:lnRef idx="0"/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74000"/>
        </a:schemeClr>
      </a:solidFill>
      <a:effectLst>
        <a:innerShdw blurRad="114300">
          <a:schemeClr val="phClr">
            <a:lumMod val="75000"/>
          </a:schemeClr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2/3/2026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F7968AE-443A-4739-9404-A7DEE893B85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25829-6226-4405-885E-2C40469FBE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17D52A-E0A6-4433-8731-3971EBEE7561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3DBBD4-F74F-4FE4-BB68-4E0D001909E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EE1EBE10-8E81-4B3E-A39A-8AD78A173DA3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954FC71-95CE-4F0C-8F7C-64D213178C34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C4CCF441-6367-4332-91A4-4AA5417CB93F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3FB3ED44-96CB-4975-B03A-9445D3C62FA6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24904ED6-3BDB-41D0-A053-4A2C1F51B0DE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44CEFE0-59BF-4DEC-9730-1C0DDA8AD70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352029A-5685-4C4D-904D-D4DEB00CE3A1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E1A602-82E0-47FE-8DB9-FA7251D971D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D9D932-CD3C-4535-AB4C-7D9AFFD0E593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2E394BD-F0A3-4812-A8CB-293BD9071CC6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FF02066-456F-48CB-9345-850E687A31F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2">
                <a:extLst>
                  <a:ext uri="{FF2B5EF4-FFF2-40B4-BE49-F238E27FC236}">
                    <a16:creationId xmlns:a16="http://schemas.microsoft.com/office/drawing/2014/main" id="{0C73C99C-304B-4995-B092-ECCC66525654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6927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D3FB0-CB50-4C66-A08C-E5F06F9F328F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B77316E-4063-4C95-A42F-831F70F984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9520A3-21E8-49AE-A95F-51B6877F9A1A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E81F7C2-DA81-4C1A-9BA0-A87197760F22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9A8AF1E-6427-478A-8742-2EE5AA10A549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4EE891-E622-4C78-B675-D4FDCB6519D5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807AC7C-A50F-403B-89F3-B75210FF07A7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C09E0C3-BB11-44B0-AB2E-60C56760B8A8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2139E3-6609-4157-9788-B013963D1FF4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BF0DCFB0-9F4E-47AA-95EB-9ADB15A1E4E8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F8A5E999-FB2A-4492-B787-835C9091C420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5E1FC26-48E1-4CE3-8893-F315B210C4A9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8754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C42B44-8DD6-4545-A403-A7F90A9E6D4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AB2535-9444-4745-8327-1E2AB18DFBED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5F82D7A-CD59-4036-B314-6FE3058B5EE2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332C124A-8365-410E-86B2-7842A1501575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A057E0E-317F-4274-8EBF-2F326187DC8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2D165F4-A971-4223-9E59-1D2815AB419D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723EDD2-0597-4F98-9466-DA358105E255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418BC69-EC24-4E06-8177-4170CC93A3FA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35A37E-6EF1-4DDA-932E-6FBD831BDB75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950B1-1197-4F92-9B31-5B0051983EBA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E0FF8C-1D93-4EE6-8808-0A33C5E556C8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A6C9215-2297-4112-8767-5CC2EE229EB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23C6766-35E7-4B6E-A37E-491D186AF3C7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03B65E-EDFA-4653-94D8-915277B3031E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129E7D-E0BD-484E-90FE-8EEFAA83B5AD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163307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0DFED1-4CFA-402C-BA8A-66F2A045B277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7DB90EB-5D1D-4EAF-A950-DAF341023515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024A6E-3A42-4D3E-A997-273788709A3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6C91842-9151-4335-91A6-B30C76F4FB45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7BA186-2A65-492F-A466-B4A01B8FF7E2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4FF5F2-A160-47B6-9F0E-26A7268137D3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2F993D-C785-47CB-BFDC-A5BB14CA7E1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A3D4587-A986-44B8-BE22-9EE8660F798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711C644-19CA-4202-8747-91BE23A4889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EBD2111C-DCFA-461B-9CF7-54028077159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2D20223F-12BF-4D71-8449-CD67DA8B2AE6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3D16557-1AE6-4E00-9B43-8C2D7C838143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8448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0C28E8-1BE5-4899-9FD9-D71543D0C7C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07ED64D-2B9E-40E5-BE7D-14159C7F8738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CA1321-2E28-4A07-A903-64DE79D83128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E1CEA4-A81B-455F-9620-5C09538E2E1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10D7DB-B5A9-4590-A7AD-9648B1C8E20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03E3623-6671-4C1B-A1FB-FC60F9DE8A64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64B6DA6-0690-421A-8B69-CDBC7A0BA63D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15FA82B-3D09-4FB9-81E9-304D03C75EF9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FFBAFA-DF45-4022-B9A4-A745FAAF8CDB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33C10E22-63E2-492E-A4B3-2D54025D283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21" name="Rectangle: Single Corner Snipped 20">
              <a:extLst>
                <a:ext uri="{FF2B5EF4-FFF2-40B4-BE49-F238E27FC236}">
                  <a16:creationId xmlns:a16="http://schemas.microsoft.com/office/drawing/2014/main" id="{128D82A5-8EA5-4D4C-B611-D9793A5DB40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0030431-381D-46DB-B6B1-7185836BC499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9466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2253D6-6D5B-45D4-9CEC-D596A90F459C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C6A0A8C-3463-49EF-B95C-62AF6E241715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DCA6BDE-9174-4F31-9A63-196AE81AEA83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F847B-D6BF-43A4-A327-5526147AE088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57E489E-6060-48A2-AF6D-DFB6410ACCAE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9B3D4B-B40A-4DFE-8139-FA7B6AB9094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E9001AA-BA33-4177-BD5B-3297A08BA3B9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3071206-2B54-4423-9540-65D72918B0E7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AD7E6FC-8303-44E5-91CA-87F6184330BF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951F46B7-E4D1-4608-BAB8-D82C33D3CA00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ABFDBFDC-3163-40EC-9536-85180AB66E0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CFB01BD-8E31-4B99-AF9D-8B9F64DE01A4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1786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6AAD5-BF87-49C5-AEA5-D9B789D71254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59631241-9068-496A-8EC3-C6C20861CE14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7">
            <a:extLst>
              <a:ext uri="{FF2B5EF4-FFF2-40B4-BE49-F238E27FC236}">
                <a16:creationId xmlns:a16="http://schemas.microsoft.com/office/drawing/2014/main" id="{B34868E3-2DA5-4BEC-86FC-569DD934F75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356569B6-539F-470D-819F-8673883C9AEE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7">
            <a:extLst>
              <a:ext uri="{FF2B5EF4-FFF2-40B4-BE49-F238E27FC236}">
                <a16:creationId xmlns:a16="http://schemas.microsoft.com/office/drawing/2014/main" id="{88DD2AE2-AA5A-45BF-B258-0D31ABAC6C12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A23CDC7-3188-4056-BEF9-611CF913AC5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1BBDE09B-2AFA-4865-A90F-9AB2001CB14C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E254D7B8-7278-440E-A7DA-870B0F4446AE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3" name="Freeform: Shape 23">
            <a:extLst>
              <a:ext uri="{FF2B5EF4-FFF2-40B4-BE49-F238E27FC236}">
                <a16:creationId xmlns:a16="http://schemas.microsoft.com/office/drawing/2014/main" id="{6D49F6E0-CA6C-4EDA-BED3-0739F930A85D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124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ED9F9A-6C3B-4065-A68A-54F18C430076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339AD9B-A837-4ED1-9414-8BD9DE8CE297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D2EF022-60FD-4212-AEE3-5854B17A72C7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4F53081-797A-4989-86FA-57BECFA66476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3FCA43D-C912-4EA0-A9D6-7F32730E417B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21BD3A-89B7-4761-B3EE-491DCB56D07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7E8A80-EBA1-4D3E-8B10-38CA3387F3B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E72CD20-6BB5-4FB2-8DA2-353246B2784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1C7F09D-6C48-4437-B250-D4743A36CBF0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7" name="Rectangle: Single Corner Snipped 16">
              <a:extLst>
                <a:ext uri="{FF2B5EF4-FFF2-40B4-BE49-F238E27FC236}">
                  <a16:creationId xmlns:a16="http://schemas.microsoft.com/office/drawing/2014/main" id="{B6B36D52-C32C-4FBA-AE72-5C674EA24D2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EA51E289-B5C1-4FD9-9882-94A5A3A045EF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9891B1F-E863-498D-B2AE-3E16B94B72DC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038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9D7A43-547A-48E3-811F-FD4201AC753B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423015A-1F70-4756-9E1B-FB7AA4DE41ED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94539D8-613D-4957-BF77-9EDA94443EE8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4017E99-BDE5-4EFE-8FE1-C031572AEF0D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B6C595-88BF-4635-AEF7-61373A2C55F3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0FBA22-60E7-4EDB-9CDB-9D0A0566ACAA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3AC715-483C-46B2-8A69-B1A8BBA9F8CC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9D2FF9-CCC2-4A3C-93AA-B87AB6F1C363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07886E-7BA2-45C0-B687-DBBAAC652C94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8" name="Rectangle: Single Corner Snipped 17">
              <a:extLst>
                <a:ext uri="{FF2B5EF4-FFF2-40B4-BE49-F238E27FC236}">
                  <a16:creationId xmlns:a16="http://schemas.microsoft.com/office/drawing/2014/main" id="{671EC2C5-6A33-4CAB-A9AA-4813A96B7BF2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070DD94-B807-4420-9D68-2CFD20869C97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5A0366F-1005-43FE-915D-820543C1E3F3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634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037879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13898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35247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GB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42A39EA-0655-4AD1-AA2C-DF66D834D953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A96C12-D7C0-414B-9D9A-32D13B2B9955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1A69957A-6A21-40DD-A6F2-9F13D9D90E96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40BEFBE-16A9-4CB5-AB59-A9DB7501F685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1" name="Freeform: Shape 11">
            <a:extLst>
              <a:ext uri="{FF2B5EF4-FFF2-40B4-BE49-F238E27FC236}">
                <a16:creationId xmlns:a16="http://schemas.microsoft.com/office/drawing/2014/main" id="{9542A14E-A36E-4A18-B57B-4C11DD8BCD40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7">
            <a:extLst>
              <a:ext uri="{FF2B5EF4-FFF2-40B4-BE49-F238E27FC236}">
                <a16:creationId xmlns:a16="http://schemas.microsoft.com/office/drawing/2014/main" id="{665AD4F4-D758-482A-A0EE-69A311B07F4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B3A66CE-7CCF-4A1A-88B7-653C2EFD56C7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A3B91D8-891E-4B82-9168-52CF6D4650B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AC7ABB6F-2057-4686-9B3E-AD057DC3D67C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B9F8B3F2-AC5F-4448-93EB-93B3EF6FA8F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6B1564F-1E03-4FA7-902C-D0B538964B51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8" name="Rectangle: Single Corner Snipped 18">
              <a:extLst>
                <a:ext uri="{FF2B5EF4-FFF2-40B4-BE49-F238E27FC236}">
                  <a16:creationId xmlns:a16="http://schemas.microsoft.com/office/drawing/2014/main" id="{EC980424-BEC7-4D94-BC94-E4C62F84DDA1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9" name="Rectangle: Single Corner Snipped 2">
              <a:extLst>
                <a:ext uri="{FF2B5EF4-FFF2-40B4-BE49-F238E27FC236}">
                  <a16:creationId xmlns:a16="http://schemas.microsoft.com/office/drawing/2014/main" id="{F4901E2F-AFA2-43CF-BF8C-44859BFE79DA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24B327E-319B-403F-9C95-1D501921A178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7CAAD8D2-7656-430B-9586-15971E84C6ED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00239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  <p:sldLayoutId id="2147484176" r:id="rId12"/>
    <p:sldLayoutId id="2147483651" r:id="rId13"/>
    <p:sldLayoutId id="2147483666" r:id="rId14"/>
    <p:sldLayoutId id="2147483654" r:id="rId15"/>
    <p:sldLayoutId id="2147483661" r:id="rId16"/>
    <p:sldLayoutId id="2147483677" r:id="rId17"/>
    <p:sldLayoutId id="2147483674" r:id="rId18"/>
    <p:sldLayoutId id="2147483665" r:id="rId19"/>
    <p:sldLayoutId id="2147483673" r:id="rId20"/>
    <p:sldLayoutId id="2147483662" r:id="rId21"/>
    <p:sldLayoutId id="2147483663" r:id="rId22"/>
    <p:sldLayoutId id="2147483664" r:id="rId23"/>
    <p:sldLayoutId id="2147483675" r:id="rId24"/>
    <p:sldLayoutId id="2147483676" r:id="rId25"/>
    <p:sldLayoutId id="2147483672" r:id="rId26"/>
    <p:sldLayoutId id="2147483668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fity.club/lists/suggestions/tableau-logo-transparent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.inspiredpencil.com/2021-gallery/mysql-logo-png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deltalyz.com/corporate-training/power-bi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8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9821" y="96107"/>
            <a:ext cx="8637073" cy="4570022"/>
          </a:xfrm>
        </p:spPr>
        <p:txBody>
          <a:bodyPr>
            <a:normAutofit/>
          </a:bodyPr>
          <a:lstStyle/>
          <a:p>
            <a:pPr algn="ctr"/>
            <a:br>
              <a:rPr lang="en-US" dirty="0"/>
            </a:br>
            <a:r>
              <a:rPr lang="en-US" sz="2800" dirty="0"/>
              <a:t>Presented by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/>
              <a:t>Prajwal </a:t>
            </a:r>
            <a:r>
              <a:rPr lang="en-US" sz="2800" b="1" dirty="0" err="1"/>
              <a:t>Ratnaparkhi</a:t>
            </a:r>
            <a:br>
              <a:rPr lang="en-US" sz="2800" b="1" dirty="0"/>
            </a:br>
            <a:br>
              <a:rPr lang="en-US" sz="2800" dirty="0"/>
            </a:br>
            <a:r>
              <a:rPr lang="en-US" sz="2800" dirty="0"/>
              <a:t>Data Analytics | Bank Analytics Project</a:t>
            </a:r>
            <a:br>
              <a:rPr lang="en-US" dirty="0"/>
            </a:b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00B0C1-3578-4E12-A094-407BEE8C5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3335" y="6319281"/>
            <a:ext cx="687562" cy="357448"/>
          </a:xfrm>
          <a:prstGeom prst="rect">
            <a:avLst/>
          </a:prstGeom>
        </p:spPr>
      </p:pic>
      <p:pic>
        <p:nvPicPr>
          <p:cNvPr id="7" name="Content Placeholder 11" descr="A yellow rectangular shapes on a black background&#10;&#10;AI-generated content may be incorrect.">
            <a:extLst>
              <a:ext uri="{FF2B5EF4-FFF2-40B4-BE49-F238E27FC236}">
                <a16:creationId xmlns:a16="http://schemas.microsoft.com/office/drawing/2014/main" id="{257111BE-A709-4C32-AFC7-51BB3B855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0276740" y="6188110"/>
            <a:ext cx="1180154" cy="573783"/>
          </a:xfrm>
          <a:prstGeom prst="rect">
            <a:avLst/>
          </a:prstGeom>
          <a:noFill/>
        </p:spPr>
      </p:pic>
      <p:pic>
        <p:nvPicPr>
          <p:cNvPr id="8" name="Content Placeholder 48" descr="A logo with a dolphin&#10;&#10;AI-generated content may be incorrect.">
            <a:extLst>
              <a:ext uri="{FF2B5EF4-FFF2-40B4-BE49-F238E27FC236}">
                <a16:creationId xmlns:a16="http://schemas.microsoft.com/office/drawing/2014/main" id="{F835370E-EE54-41CA-B436-748267A147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1456894" y="6273275"/>
            <a:ext cx="545131" cy="403454"/>
          </a:xfrm>
          <a:prstGeom prst="rect">
            <a:avLst/>
          </a:prstGeom>
        </p:spPr>
      </p:pic>
      <p:pic>
        <p:nvPicPr>
          <p:cNvPr id="10" name="Content Placeholder 39" descr="A logo for a software company&#10;&#10;AI-generated content may be incorrect.">
            <a:extLst>
              <a:ext uri="{FF2B5EF4-FFF2-40B4-BE49-F238E27FC236}">
                <a16:creationId xmlns:a16="http://schemas.microsoft.com/office/drawing/2014/main" id="{BE490B24-71CA-4864-9BFC-81B7D33339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415603" y="6188110"/>
            <a:ext cx="815364" cy="48861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9214D16-90F4-4764-B2B7-0EADC81F0D58}"/>
              </a:ext>
            </a:extLst>
          </p:cNvPr>
          <p:cNvSpPr txBox="1">
            <a:spLocks/>
          </p:cNvSpPr>
          <p:nvPr/>
        </p:nvSpPr>
        <p:spPr>
          <a:xfrm>
            <a:off x="8415603" y="5434248"/>
            <a:ext cx="3202655" cy="4886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600" b="1" kern="1200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IN" sz="1600" dirty="0">
                <a:solidFill>
                  <a:schemeClr val="tx1"/>
                </a:solidFill>
              </a:rPr>
              <a:t>Tools &amp; Technologies Used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BBC4F7A-14E0-4B05-AD63-4A49F7A38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129" y="596579"/>
            <a:ext cx="8377518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Insights for Banking Performance &amp; Decision-Making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67E6EF-EDE1-41E4-81E3-DA74A6B14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8" y="492368"/>
            <a:ext cx="10687226" cy="819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Introduction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 lnSpcReduction="10000"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373F0C-E25E-39DD-D94C-8D24849BC4EE}"/>
              </a:ext>
            </a:extLst>
          </p:cNvPr>
          <p:cNvSpPr txBox="1"/>
          <p:nvPr/>
        </p:nvSpPr>
        <p:spPr>
          <a:xfrm>
            <a:off x="267286" y="1667747"/>
            <a:ext cx="91379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Growing Industry Relevance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 Real Banking Insights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 Data Quality Challenges  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 Supports Strategic Decision-Making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 Scope for Team Contribution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bg1"/>
                </a:solidFill>
              </a:rPr>
              <a:t> Key Learnings and Outcomes</a:t>
            </a:r>
          </a:p>
          <a:p>
            <a:endParaRPr lang="en-IN" b="1" dirty="0"/>
          </a:p>
        </p:txBody>
      </p:sp>
      <p:pic>
        <p:nvPicPr>
          <p:cNvPr id="4" name="Graphic 3" descr="Bar graph with upward trend">
            <a:extLst>
              <a:ext uri="{FF2B5EF4-FFF2-40B4-BE49-F238E27FC236}">
                <a16:creationId xmlns:a16="http://schemas.microsoft.com/office/drawing/2014/main" id="{A5D515BB-3809-4AB9-945D-130609A1F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3577" y="1818689"/>
            <a:ext cx="467311" cy="467311"/>
          </a:xfrm>
          <a:prstGeom prst="rect">
            <a:avLst/>
          </a:prstGeom>
        </p:spPr>
      </p:pic>
      <p:pic>
        <p:nvPicPr>
          <p:cNvPr id="7" name="Graphic 6" descr="Bank">
            <a:extLst>
              <a:ext uri="{FF2B5EF4-FFF2-40B4-BE49-F238E27FC236}">
                <a16:creationId xmlns:a16="http://schemas.microsoft.com/office/drawing/2014/main" id="{8C9B01E2-D41F-4C28-AD56-8594C65E46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47130" y="2447365"/>
            <a:ext cx="457200" cy="457200"/>
          </a:xfrm>
          <a:prstGeom prst="rect">
            <a:avLst/>
          </a:prstGeom>
        </p:spPr>
      </p:pic>
      <p:pic>
        <p:nvPicPr>
          <p:cNvPr id="11" name="Graphic 10" descr="Puzzle pieces">
            <a:extLst>
              <a:ext uri="{FF2B5EF4-FFF2-40B4-BE49-F238E27FC236}">
                <a16:creationId xmlns:a16="http://schemas.microsoft.com/office/drawing/2014/main" id="{3EFF55F8-C135-4ECA-B77F-B5630593DC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55859" y="3671047"/>
            <a:ext cx="591671" cy="591671"/>
          </a:xfrm>
          <a:prstGeom prst="rect">
            <a:avLst/>
          </a:prstGeom>
        </p:spPr>
      </p:pic>
      <p:pic>
        <p:nvPicPr>
          <p:cNvPr id="13" name="Graphic 12" descr="Group">
            <a:extLst>
              <a:ext uri="{FF2B5EF4-FFF2-40B4-BE49-F238E27FC236}">
                <a16:creationId xmlns:a16="http://schemas.microsoft.com/office/drawing/2014/main" id="{4C47F9CA-182D-4364-BC3E-B009A3D58C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3161" y="4219042"/>
            <a:ext cx="766481" cy="766481"/>
          </a:xfrm>
          <a:prstGeom prst="rect">
            <a:avLst/>
          </a:prstGeom>
        </p:spPr>
      </p:pic>
      <p:pic>
        <p:nvPicPr>
          <p:cNvPr id="17" name="Graphic 16" descr="Classroom">
            <a:extLst>
              <a:ext uri="{FF2B5EF4-FFF2-40B4-BE49-F238E27FC236}">
                <a16:creationId xmlns:a16="http://schemas.microsoft.com/office/drawing/2014/main" id="{1A15F0BE-092E-48D8-9758-9F6B4EA5EE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37232" y="4907864"/>
            <a:ext cx="564777" cy="564777"/>
          </a:xfrm>
          <a:prstGeom prst="rect">
            <a:avLst/>
          </a:prstGeom>
        </p:spPr>
      </p:pic>
      <p:pic>
        <p:nvPicPr>
          <p:cNvPr id="18" name="Graphic 17" descr="Research">
            <a:extLst>
              <a:ext uri="{FF2B5EF4-FFF2-40B4-BE49-F238E27FC236}">
                <a16:creationId xmlns:a16="http://schemas.microsoft.com/office/drawing/2014/main" id="{BE2C6102-52C1-4849-8BED-321758CE37F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4330" y="303221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30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6000"/>
            <a:lum/>
          </a:blip>
          <a:srcRect/>
          <a:stretch>
            <a:fillRect t="-1000" r="1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9F9DB-C05F-61C5-40DB-FB6EC142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A8FE4C-7B32-4690-B9C2-51031EDAE1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31153" y="244625"/>
            <a:ext cx="2420815" cy="799581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C000"/>
                </a:solidFill>
              </a:rPr>
              <a:t>Insight</a:t>
            </a:r>
            <a:endParaRPr lang="en-IN" sz="4400" dirty="0">
              <a:solidFill>
                <a:srgbClr val="FFC000"/>
              </a:solidFill>
            </a:endParaRP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FE095D4-6153-44F7-922E-3322EC4FC01F}"/>
              </a:ext>
            </a:extLst>
          </p:cNvPr>
          <p:cNvSpPr txBox="1">
            <a:spLocks/>
          </p:cNvSpPr>
          <p:nvPr/>
        </p:nvSpPr>
        <p:spPr>
          <a:xfrm>
            <a:off x="8190215" y="0"/>
            <a:ext cx="2420815" cy="799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6000" kern="1200" spc="1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dirty="0">
                <a:solidFill>
                  <a:srgbClr val="FFC000"/>
                </a:solidFill>
              </a:rPr>
              <a:t>KPI</a:t>
            </a:r>
            <a:endParaRPr lang="en-IN" sz="4400" dirty="0">
              <a:solidFill>
                <a:srgbClr val="FFC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122E2-F3D1-4CCC-B2AA-0BC75BBD8682}"/>
              </a:ext>
            </a:extLst>
          </p:cNvPr>
          <p:cNvSpPr txBox="1"/>
          <p:nvPr/>
        </p:nvSpPr>
        <p:spPr>
          <a:xfrm>
            <a:off x="4454772" y="-23191"/>
            <a:ext cx="3570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</a:rPr>
              <a:t>MS Excel </a:t>
            </a:r>
            <a:endParaRPr lang="en-IN" sz="3600" b="1" dirty="0">
              <a:solidFill>
                <a:srgbClr val="FFFF00"/>
              </a:solidFill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4B14526-2B67-46CB-9B88-1F4CB18E84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5316619"/>
              </p:ext>
            </p:extLst>
          </p:nvPr>
        </p:nvGraphicFramePr>
        <p:xfrm>
          <a:off x="389965" y="3963907"/>
          <a:ext cx="3931984" cy="2364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E01698C4-DABD-4489-AD52-D07FD46751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8872163"/>
              </p:ext>
            </p:extLst>
          </p:nvPr>
        </p:nvGraphicFramePr>
        <p:xfrm>
          <a:off x="6509123" y="3887484"/>
          <a:ext cx="4101907" cy="2364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1A3F1318-E0C5-4192-9916-9A43F4F07F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4324881"/>
              </p:ext>
            </p:extLst>
          </p:nvPr>
        </p:nvGraphicFramePr>
        <p:xfrm>
          <a:off x="748555" y="1277394"/>
          <a:ext cx="3298020" cy="2480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948B66E5-9626-40C2-8F68-4A064DE77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773" y="796815"/>
            <a:ext cx="4233074" cy="7995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4DCB8C-2B93-49A3-B397-52FD95F539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8524" y="1867585"/>
            <a:ext cx="3743104" cy="174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73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E92CC1-08CC-4C79-B43A-EFF26E22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30" y="95703"/>
            <a:ext cx="11214100" cy="535531"/>
          </a:xfrm>
        </p:spPr>
        <p:txBody>
          <a:bodyPr/>
          <a:lstStyle/>
          <a:p>
            <a:r>
              <a:rPr lang="en-US" dirty="0">
                <a:solidFill>
                  <a:srgbClr val="0C75AC"/>
                </a:solidFill>
              </a:rPr>
              <a:t>Challenge and solution</a:t>
            </a:r>
            <a:endParaRPr lang="en-IN" dirty="0">
              <a:solidFill>
                <a:srgbClr val="0C75A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750696-97C4-49B1-BDDC-7FA9413D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9A2FD7-2131-4525-A683-7AEAA10C2C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1083" y="679225"/>
            <a:ext cx="6718300" cy="258085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C75AC"/>
                </a:solidFill>
              </a:rPr>
              <a:t>Challenge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dirty="0"/>
              <a:t>Data label amount converted number into word in KPI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dirty="0"/>
              <a:t>Dynamic values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C75AC"/>
                </a:solidFill>
              </a:rPr>
              <a:t>Solution</a:t>
            </a:r>
            <a:r>
              <a:rPr lang="en-US" sz="2400" dirty="0"/>
              <a:t> 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dirty="0"/>
              <a:t>searching of the every tool properly </a:t>
            </a:r>
          </a:p>
          <a:p>
            <a:pPr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en-US" sz="1800" dirty="0"/>
              <a:t>Reference video from different source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981E1FB-44F4-4886-857C-32F734210C72}"/>
              </a:ext>
            </a:extLst>
          </p:cNvPr>
          <p:cNvSpPr txBox="1">
            <a:spLocks/>
          </p:cNvSpPr>
          <p:nvPr/>
        </p:nvSpPr>
        <p:spPr>
          <a:xfrm>
            <a:off x="533400" y="4525497"/>
            <a:ext cx="6718300" cy="207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44337C-69B7-43C3-98B9-6DFD213A01F9}"/>
              </a:ext>
            </a:extLst>
          </p:cNvPr>
          <p:cNvSpPr txBox="1">
            <a:spLocks/>
          </p:cNvSpPr>
          <p:nvPr/>
        </p:nvSpPr>
        <p:spPr>
          <a:xfrm>
            <a:off x="533400" y="3260079"/>
            <a:ext cx="8334189" cy="34201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dirty="0">
                <a:solidFill>
                  <a:srgbClr val="0C75AC"/>
                </a:solidFill>
              </a:rPr>
              <a:t>Suggestion to Bank 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/>
              <a:t> Identify Issue: High Debit Volume but Lower Credit Growth in City Center</a:t>
            </a:r>
          </a:p>
          <a:p>
            <a:pPr marL="0" indent="0">
              <a:buNone/>
            </a:pPr>
            <a:r>
              <a:rPr lang="en-US" dirty="0"/>
              <a:t>Solution: Promote credit cards and pre-approved loans to active debit users.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 Issue: High Dependency on Debit Transactions</a:t>
            </a:r>
          </a:p>
          <a:p>
            <a:r>
              <a:rPr lang="en-US" dirty="0"/>
              <a:t>Solution: Encourage balanced usage by promoting digital banking and credit products.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Issue: Limited Increase in Bank Transfers (14M)</a:t>
            </a:r>
          </a:p>
          <a:p>
            <a:r>
              <a:rPr lang="en-US" dirty="0"/>
              <a:t>Solution: Promote UPI, mobile banking, automatic payments, and digital awareness programs.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9123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E4030B-73BD-7614-52B7-D70487C6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9C7F1C-30FA-4818-A4BB-EC18A2C19D3C}"/>
              </a:ext>
            </a:extLst>
          </p:cNvPr>
          <p:cNvSpPr txBox="1"/>
          <p:nvPr/>
        </p:nvSpPr>
        <p:spPr>
          <a:xfrm>
            <a:off x="442550" y="-70339"/>
            <a:ext cx="48099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Power BI </a:t>
            </a:r>
            <a:endParaRPr lang="en-IN" sz="4000" dirty="0">
              <a:solidFill>
                <a:srgbClr val="FFFF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6A9CF9-0470-4A07-9D6F-4AC9175BE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366" y="637547"/>
            <a:ext cx="4523256" cy="31933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3C4CE6-994B-4E0A-9E4F-40B89CBAF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88" y="4028797"/>
            <a:ext cx="4693334" cy="2737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965F9C-4A84-4C04-A68F-36804DE8B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493" y="4014728"/>
            <a:ext cx="3685107" cy="2737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2416A8-EB8D-473C-A7DD-F6C1D69DC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7939" y="7035"/>
            <a:ext cx="7564902" cy="63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84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E92CC1-08CC-4C79-B43A-EFF26E22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350" y="177800"/>
            <a:ext cx="11214100" cy="535531"/>
          </a:xfrm>
        </p:spPr>
        <p:txBody>
          <a:bodyPr/>
          <a:lstStyle/>
          <a:p>
            <a:r>
              <a:rPr lang="en-US" dirty="0">
                <a:solidFill>
                  <a:srgbClr val="0C75AC"/>
                </a:solidFill>
              </a:rPr>
              <a:t>Challenge and solution </a:t>
            </a:r>
            <a:endParaRPr lang="en-IN" dirty="0">
              <a:solidFill>
                <a:srgbClr val="0C75A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750696-97C4-49B1-BDDC-7FA9413D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9A2FD7-2131-4525-A683-7AEAA10C2C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3400" y="713331"/>
            <a:ext cx="7419340" cy="212399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C75AC"/>
                </a:solidFill>
              </a:rPr>
              <a:t>Challenge</a:t>
            </a:r>
          </a:p>
          <a:p>
            <a:pPr marL="0" indent="0">
              <a:buNone/>
            </a:pPr>
            <a:r>
              <a:rPr lang="en-US" dirty="0"/>
              <a:t> Faced issue to create KPI card dynamic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C75AC"/>
                </a:solidFill>
              </a:rPr>
              <a:t>Solution </a:t>
            </a:r>
          </a:p>
          <a:p>
            <a:pPr marL="0" indent="0">
              <a:buNone/>
            </a:pPr>
            <a:r>
              <a:rPr lang="en-US" dirty="0"/>
              <a:t>Create KPI with the help of create measure in the power BI  </a:t>
            </a:r>
            <a:endParaRPr lang="en-IN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981E1FB-44F4-4886-857C-32F734210C72}"/>
              </a:ext>
            </a:extLst>
          </p:cNvPr>
          <p:cNvSpPr txBox="1">
            <a:spLocks/>
          </p:cNvSpPr>
          <p:nvPr/>
        </p:nvSpPr>
        <p:spPr>
          <a:xfrm>
            <a:off x="533400" y="4525497"/>
            <a:ext cx="6718300" cy="207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5C111B0-F7AA-4743-B373-687A197AC238}"/>
              </a:ext>
            </a:extLst>
          </p:cNvPr>
          <p:cNvSpPr txBox="1">
            <a:spLocks/>
          </p:cNvSpPr>
          <p:nvPr/>
        </p:nvSpPr>
        <p:spPr>
          <a:xfrm>
            <a:off x="533400" y="2632872"/>
            <a:ext cx="8334189" cy="40473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u="sng" dirty="0">
                <a:solidFill>
                  <a:srgbClr val="0C75AC"/>
                </a:solidFill>
              </a:rPr>
              <a:t>Suggestion to Bank 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issue</a:t>
            </a:r>
            <a:r>
              <a:rPr lang="en-US" b="1" dirty="0"/>
              <a:t> : </a:t>
            </a:r>
            <a:r>
              <a:rPr lang="en-US" dirty="0"/>
              <a:t>Bank transfer transactions are generating a net loss of –139.85k But the north branch doing good performance to bank transfer transactions </a:t>
            </a:r>
            <a:br>
              <a:rPr lang="en-US" b="1" dirty="0"/>
            </a:br>
            <a:r>
              <a:rPr lang="en-US" b="1" dirty="0">
                <a:solidFill>
                  <a:srgbClr val="0C75AC"/>
                </a:solidFill>
              </a:rPr>
              <a:t>why happened </a:t>
            </a:r>
            <a:r>
              <a:rPr lang="en-US" b="1" dirty="0"/>
              <a:t>: </a:t>
            </a:r>
            <a:r>
              <a:rPr lang="en-US" dirty="0"/>
              <a:t>indicating high operational cost or low service charges.</a:t>
            </a:r>
            <a:br>
              <a:rPr lang="en-US" dirty="0"/>
            </a:br>
            <a:r>
              <a:rPr lang="en-US" b="1" dirty="0">
                <a:solidFill>
                  <a:srgbClr val="0C75AC"/>
                </a:solidFill>
              </a:rPr>
              <a:t>Solution </a:t>
            </a:r>
            <a:r>
              <a:rPr lang="en-US" b="1" dirty="0"/>
              <a:t>:  </a:t>
            </a:r>
            <a:r>
              <a:rPr lang="en-US" dirty="0"/>
              <a:t>Reduce processing costs, increase small transaction fees, promote digital/UPI channels with lower cost, and optimize backend operations to improve profitability. And use </a:t>
            </a:r>
            <a:r>
              <a:rPr lang="en-US" dirty="0" err="1"/>
              <a:t>stategy</a:t>
            </a:r>
            <a:r>
              <a:rPr lang="en-US" dirty="0"/>
              <a:t> of north branch . </a:t>
            </a:r>
            <a:endParaRPr lang="en-US" b="1" dirty="0">
              <a:solidFill>
                <a:srgbClr val="0C75AC"/>
              </a:solidFill>
            </a:endParaRP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issue </a:t>
            </a:r>
            <a:r>
              <a:rPr lang="en-US" b="1" dirty="0"/>
              <a:t>: PNB recorded a net loss of –897.17k</a:t>
            </a:r>
            <a:r>
              <a:rPr lang="en-US" dirty="0"/>
              <a:t> despite showing good performance in May.</a:t>
            </a:r>
            <a:br>
              <a:rPr lang="en-US" dirty="0"/>
            </a:br>
            <a:r>
              <a:rPr lang="en-US" b="1" dirty="0">
                <a:solidFill>
                  <a:srgbClr val="0C75AC"/>
                </a:solidFill>
              </a:rPr>
              <a:t>Why happened </a:t>
            </a:r>
            <a:r>
              <a:rPr lang="en-US" b="1" dirty="0"/>
              <a:t>:  </a:t>
            </a:r>
            <a:r>
              <a:rPr lang="en-US" dirty="0"/>
              <a:t>This happened mainly due to </a:t>
            </a:r>
            <a:r>
              <a:rPr lang="en-US" b="1" dirty="0"/>
              <a:t>higher operational costs, delayed recoveries, and increased loan defaults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>
                <a:solidFill>
                  <a:srgbClr val="0C75AC"/>
                </a:solidFill>
              </a:rPr>
              <a:t>Solution </a:t>
            </a:r>
            <a:r>
              <a:rPr lang="en-US" b="1" dirty="0"/>
              <a:t>:  </a:t>
            </a:r>
            <a:r>
              <a:rPr lang="en-US" dirty="0"/>
              <a:t>Strengthen loan recovery and follow-up </a:t>
            </a:r>
            <a:r>
              <a:rPr lang="en-US" dirty="0" err="1"/>
              <a:t>process.Reduce</a:t>
            </a:r>
            <a:r>
              <a:rPr lang="en-US" dirty="0"/>
              <a:t> non-essential operational expenses</a:t>
            </a:r>
            <a:br>
              <a:rPr lang="en-US" dirty="0"/>
            </a:br>
            <a:endParaRPr lang="en-US" b="1" dirty="0"/>
          </a:p>
          <a:p>
            <a:pPr marL="0" indent="0">
              <a:buClr>
                <a:schemeClr val="bg1"/>
              </a:buClr>
              <a:buSzPct val="100000"/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184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13000"/>
            <a:lum/>
          </a:blip>
          <a:srcRect/>
          <a:stretch>
            <a:fillRect b="-3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178329-7F33-F8D6-27A5-91493659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BB24D-C57E-4E4B-9A1D-BA4E7EEC8797}"/>
              </a:ext>
            </a:extLst>
          </p:cNvPr>
          <p:cNvSpPr txBox="1"/>
          <p:nvPr/>
        </p:nvSpPr>
        <p:spPr>
          <a:xfrm>
            <a:off x="6096000" y="450166"/>
            <a:ext cx="58380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</a:rPr>
              <a:t>KPI</a:t>
            </a:r>
            <a:r>
              <a:rPr lang="en-US" sz="2400" b="1" dirty="0">
                <a:solidFill>
                  <a:schemeClr val="bg1"/>
                </a:solidFill>
              </a:rPr>
              <a:t>  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Total Loan Amount </a:t>
            </a: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Total payment Received </a:t>
            </a: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outstanding balance  </a:t>
            </a: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Avg Interest Rate</a:t>
            </a:r>
            <a:br>
              <a:rPr lang="en-US" sz="2400" b="1" dirty="0">
                <a:solidFill>
                  <a:schemeClr val="bg1"/>
                </a:solidFill>
              </a:rPr>
            </a:b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 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08B2A-0100-470E-9175-CEBFF863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789" y="3801053"/>
            <a:ext cx="4888177" cy="29648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143238-4649-40DD-A212-5A2B5A892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555"/>
            <a:ext cx="3487789" cy="283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4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E92CC1-08CC-4C79-B43A-EFF26E22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156" y="33453"/>
            <a:ext cx="5082988" cy="532840"/>
          </a:xfrm>
        </p:spPr>
        <p:txBody>
          <a:bodyPr/>
          <a:lstStyle/>
          <a:p>
            <a:r>
              <a:rPr lang="en-US" dirty="0">
                <a:solidFill>
                  <a:srgbClr val="0C75AC"/>
                </a:solidFill>
              </a:rPr>
              <a:t>Challenge and solution</a:t>
            </a:r>
            <a:endParaRPr lang="en-IN" dirty="0">
              <a:solidFill>
                <a:srgbClr val="0C75A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750696-97C4-49B1-BDDC-7FA9413D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981E1FB-44F4-4886-857C-32F734210C72}"/>
              </a:ext>
            </a:extLst>
          </p:cNvPr>
          <p:cNvSpPr txBox="1">
            <a:spLocks/>
          </p:cNvSpPr>
          <p:nvPr/>
        </p:nvSpPr>
        <p:spPr>
          <a:xfrm>
            <a:off x="533400" y="4525497"/>
            <a:ext cx="6718300" cy="207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90A5837-1183-49C4-B653-E1A731380F32}"/>
              </a:ext>
            </a:extLst>
          </p:cNvPr>
          <p:cNvSpPr txBox="1">
            <a:spLocks/>
          </p:cNvSpPr>
          <p:nvPr/>
        </p:nvSpPr>
        <p:spPr>
          <a:xfrm>
            <a:off x="1048870" y="670671"/>
            <a:ext cx="6629400" cy="19425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800" b="1">
                <a:solidFill>
                  <a:srgbClr val="0C75AC"/>
                </a:solidFill>
              </a:rPr>
              <a:t>Challenge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Show the null value in the dashboard </a:t>
            </a:r>
          </a:p>
          <a:p>
            <a:pPr marL="0" indent="0">
              <a:buFont typeface="Arial" pitchFamily="34" charset="0"/>
              <a:buNone/>
            </a:pPr>
            <a:r>
              <a:rPr lang="en-US" sz="1800" b="1">
                <a:solidFill>
                  <a:srgbClr val="0C75AC"/>
                </a:solidFill>
              </a:rPr>
              <a:t>Solution</a:t>
            </a:r>
            <a:r>
              <a:rPr lang="en-US"/>
              <a:t> </a:t>
            </a:r>
          </a:p>
          <a:p>
            <a:pPr marL="0" indent="0">
              <a:buFont typeface="Arial" pitchFamily="34" charset="0"/>
              <a:buNone/>
            </a:pPr>
            <a:r>
              <a:rPr lang="en-US"/>
              <a:t>Clean data in the power query editor and then remove null value, remove the unwanted column into the dataset</a:t>
            </a:r>
            <a:endParaRPr lang="en-IN" sz="1100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23599248-2B17-44BE-81EB-752DD28FD379}"/>
              </a:ext>
            </a:extLst>
          </p:cNvPr>
          <p:cNvSpPr txBox="1">
            <a:spLocks/>
          </p:cNvSpPr>
          <p:nvPr/>
        </p:nvSpPr>
        <p:spPr>
          <a:xfrm>
            <a:off x="917761" y="2450310"/>
            <a:ext cx="8334189" cy="42298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dirty="0">
                <a:solidFill>
                  <a:srgbClr val="0C75AC"/>
                </a:solidFill>
              </a:rPr>
              <a:t>	</a:t>
            </a:r>
            <a:r>
              <a:rPr lang="en-US" sz="2400" b="1" u="sng" dirty="0">
                <a:solidFill>
                  <a:srgbClr val="0C75AC"/>
                </a:solidFill>
              </a:rPr>
              <a:t>Suggestion to Bank 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issue</a:t>
            </a:r>
            <a:r>
              <a:rPr lang="en-US" b="1" dirty="0"/>
              <a:t> : </a:t>
            </a:r>
            <a:r>
              <a:rPr lang="en-US" dirty="0"/>
              <a:t>FARIDKOT (4.65%) and smaller branches have </a:t>
            </a:r>
            <a:r>
              <a:rPr lang="en-US" b="1" dirty="0"/>
              <a:t>low recovery </a:t>
            </a:r>
            <a:r>
              <a:rPr lang="en-US" b="1" dirty="0" err="1"/>
              <a:t>performanc</a:t>
            </a:r>
            <a:br>
              <a:rPr lang="en-US" b="1" dirty="0"/>
            </a:br>
            <a:r>
              <a:rPr lang="en-US" b="1" dirty="0">
                <a:solidFill>
                  <a:srgbClr val="0C75AC"/>
                </a:solidFill>
              </a:rPr>
              <a:t>why happened </a:t>
            </a:r>
            <a:r>
              <a:rPr lang="en-US" b="1" dirty="0"/>
              <a:t>: 1. Low-performing branches may have higher overdue customers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2. </a:t>
            </a:r>
            <a:r>
              <a:rPr lang="en-US" b="1" dirty="0"/>
              <a:t>Regional economic conditions</a:t>
            </a:r>
            <a:r>
              <a:rPr lang="en-US" dirty="0"/>
              <a:t> may be affecting repayment ability in some areas.</a:t>
            </a:r>
            <a:br>
              <a:rPr lang="en-US" dirty="0"/>
            </a:br>
            <a:r>
              <a:rPr lang="en-US" b="1" dirty="0">
                <a:solidFill>
                  <a:srgbClr val="0C75AC"/>
                </a:solidFill>
              </a:rPr>
              <a:t>Solution </a:t>
            </a:r>
            <a:r>
              <a:rPr lang="en-US" b="1" dirty="0"/>
              <a:t>:</a:t>
            </a:r>
            <a:r>
              <a:rPr lang="en-US" dirty="0"/>
              <a:t> 1. </a:t>
            </a:r>
            <a:r>
              <a:rPr lang="en-US" b="1" dirty="0"/>
              <a:t>Replicate ASKA’s recovery strategy</a:t>
            </a:r>
            <a:r>
              <a:rPr lang="en-US" dirty="0"/>
              <a:t> in low-performing branches</a:t>
            </a:r>
            <a:br>
              <a:rPr lang="en-US" dirty="0"/>
            </a:br>
            <a:r>
              <a:rPr lang="en-US" dirty="0"/>
              <a:t> 2. </a:t>
            </a:r>
            <a:r>
              <a:rPr lang="en-US" b="1" dirty="0"/>
              <a:t>Set specific recovery targets</a:t>
            </a:r>
            <a:r>
              <a:rPr lang="en-US" dirty="0"/>
              <a:t> for low-performing branches like FARIDKOT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 issue</a:t>
            </a:r>
            <a:r>
              <a:rPr lang="en-US" b="1" dirty="0"/>
              <a:t> :  </a:t>
            </a:r>
            <a:r>
              <a:rPr lang="en-US" dirty="0"/>
              <a:t>Very </a:t>
            </a:r>
            <a:r>
              <a:rPr lang="en-US" b="1" dirty="0"/>
              <a:t>low loan volume</a:t>
            </a:r>
            <a:r>
              <a:rPr lang="en-US" dirty="0"/>
              <a:t> in ages </a:t>
            </a:r>
            <a:r>
              <a:rPr lang="en-US" b="1" dirty="0"/>
              <a:t>56–63</a:t>
            </a:r>
            <a:r>
              <a:rPr lang="en-US" dirty="0"/>
              <a:t>, showing weak engagement with older customers.</a:t>
            </a:r>
          </a:p>
          <a:p>
            <a:pPr marL="0" indent="0">
              <a:buClr>
                <a:schemeClr val="bg1"/>
              </a:buClr>
              <a:buSzPct val="100000"/>
              <a:buNone/>
            </a:pPr>
            <a:r>
              <a:rPr lang="en-US" b="1" dirty="0">
                <a:solidFill>
                  <a:srgbClr val="0C75AC"/>
                </a:solidFill>
              </a:rPr>
              <a:t>why happened : </a:t>
            </a:r>
            <a:r>
              <a:rPr lang="en-US" dirty="0"/>
              <a:t>Older customers may be </a:t>
            </a:r>
            <a:r>
              <a:rPr lang="en-US" b="1" dirty="0"/>
              <a:t>risk-averse</a:t>
            </a:r>
            <a:r>
              <a:rPr lang="en-US" dirty="0"/>
              <a:t>, avoiding long-term loans.</a:t>
            </a:r>
            <a:endParaRPr lang="en-US" b="1" dirty="0"/>
          </a:p>
          <a:p>
            <a:pPr marL="0" indent="0">
              <a:buClr>
                <a:schemeClr val="bg1"/>
              </a:buClr>
              <a:buSzPct val="100000"/>
              <a:buNone/>
            </a:pPr>
            <a:r>
              <a:rPr lang="en-US" b="1" dirty="0">
                <a:solidFill>
                  <a:srgbClr val="0C75AC"/>
                </a:solidFill>
              </a:rPr>
              <a:t>Solution </a:t>
            </a:r>
            <a:r>
              <a:rPr lang="en-US" b="1" dirty="0"/>
              <a:t>:</a:t>
            </a:r>
            <a:r>
              <a:rPr lang="en-US" dirty="0"/>
              <a:t>  </a:t>
            </a:r>
            <a:r>
              <a:rPr lang="en-US" b="1" dirty="0"/>
              <a:t>Introduce age-specific loan schemes</a:t>
            </a:r>
            <a:r>
              <a:rPr lang="en-US" dirty="0"/>
              <a:t> to increase participation of the 56–63 group.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1364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7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178329-7F33-F8D6-27A5-91493659E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B389D-9990-4676-9D3A-01FFA635AF26}"/>
              </a:ext>
            </a:extLst>
          </p:cNvPr>
          <p:cNvSpPr txBox="1"/>
          <p:nvPr/>
        </p:nvSpPr>
        <p:spPr>
          <a:xfrm>
            <a:off x="4833424" y="149133"/>
            <a:ext cx="2525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MYSQL </a:t>
            </a:r>
            <a:endParaRPr lang="en-IN" sz="28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F1F65E-9CDF-4AFA-A408-92913B582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04" y="1081087"/>
            <a:ext cx="3584799" cy="2347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7D9C17-1E51-4B42-9DA8-EF53D8662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727" y="1022016"/>
            <a:ext cx="3584798" cy="24069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ADE9B3-7CA8-47B1-8C9A-817A88528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347" y="3299852"/>
            <a:ext cx="3608735" cy="23479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2E0A69-6F35-4116-90F3-96B5B43F3DE1}"/>
              </a:ext>
            </a:extLst>
          </p:cNvPr>
          <p:cNvSpPr txBox="1"/>
          <p:nvPr/>
        </p:nvSpPr>
        <p:spPr>
          <a:xfrm>
            <a:off x="954741" y="3429000"/>
            <a:ext cx="1506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en-US" baseline="30000" dirty="0"/>
              <a:t>st </a:t>
            </a:r>
            <a:r>
              <a:rPr lang="en-US" dirty="0"/>
              <a:t>Insight 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008071-BD27-4A76-B4EC-BA18C333231E}"/>
              </a:ext>
            </a:extLst>
          </p:cNvPr>
          <p:cNvSpPr txBox="1"/>
          <p:nvPr/>
        </p:nvSpPr>
        <p:spPr>
          <a:xfrm>
            <a:off x="4833424" y="5647765"/>
            <a:ext cx="1506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Insight 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64340-B280-4B1E-8381-9365D762112D}"/>
              </a:ext>
            </a:extLst>
          </p:cNvPr>
          <p:cNvSpPr txBox="1"/>
          <p:nvPr/>
        </p:nvSpPr>
        <p:spPr>
          <a:xfrm>
            <a:off x="9040905" y="3429000"/>
            <a:ext cx="1506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 </a:t>
            </a:r>
            <a:r>
              <a:rPr lang="en-US" dirty="0"/>
              <a:t>Insight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9212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0E92CC1-08CC-4C79-B43A-EFF26E22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406" y="0"/>
            <a:ext cx="11214100" cy="535531"/>
          </a:xfrm>
        </p:spPr>
        <p:txBody>
          <a:bodyPr/>
          <a:lstStyle/>
          <a:p>
            <a:r>
              <a:rPr lang="en-US" dirty="0">
                <a:solidFill>
                  <a:srgbClr val="0C75AC"/>
                </a:solidFill>
              </a:rPr>
              <a:t>Challenge and solution </a:t>
            </a:r>
            <a:endParaRPr lang="en-IN" dirty="0">
              <a:solidFill>
                <a:srgbClr val="0C75AC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750696-97C4-49B1-BDDC-7FA9413D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59A2FD7-2131-4525-A683-7AEAA10C2C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6206" y="535532"/>
            <a:ext cx="6494182" cy="1796971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C75AC"/>
                </a:solidFill>
              </a:rPr>
              <a:t>Challenge</a:t>
            </a:r>
          </a:p>
          <a:p>
            <a:pPr marL="0" indent="0">
              <a:buNone/>
            </a:pPr>
            <a:r>
              <a:rPr lang="en-US" dirty="0"/>
              <a:t>Cleaned the data using the python and loading data issues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C75AC"/>
                </a:solidFill>
              </a:rPr>
              <a:t>Solution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Used clean excel file in csv format and loaded the data in MYSQL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981E1FB-44F4-4886-857C-32F734210C72}"/>
              </a:ext>
            </a:extLst>
          </p:cNvPr>
          <p:cNvSpPr txBox="1">
            <a:spLocks/>
          </p:cNvSpPr>
          <p:nvPr/>
        </p:nvSpPr>
        <p:spPr>
          <a:xfrm>
            <a:off x="533400" y="4525497"/>
            <a:ext cx="6718300" cy="2070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542134A-7702-4911-809B-2AF00A736C7C}"/>
              </a:ext>
            </a:extLst>
          </p:cNvPr>
          <p:cNvSpPr txBox="1">
            <a:spLocks/>
          </p:cNvSpPr>
          <p:nvPr/>
        </p:nvSpPr>
        <p:spPr>
          <a:xfrm>
            <a:off x="917761" y="2450310"/>
            <a:ext cx="8334189" cy="42298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600" kern="1200" spc="10" baseline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Clr>
                <a:schemeClr val="accent1"/>
              </a:buClr>
              <a:buFont typeface="Wingdings 2" pitchFamily="18" charset="2"/>
              <a:buChar char=""/>
              <a:defRPr sz="12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dirty="0">
                <a:solidFill>
                  <a:srgbClr val="0C75AC"/>
                </a:solidFill>
              </a:rPr>
              <a:t>	</a:t>
            </a:r>
            <a:r>
              <a:rPr lang="en-US" sz="2400" b="1" u="sng" dirty="0">
                <a:solidFill>
                  <a:srgbClr val="0C75AC"/>
                </a:solidFill>
              </a:rPr>
              <a:t>Suggestion to Bank </a:t>
            </a:r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issue</a:t>
            </a:r>
            <a:r>
              <a:rPr lang="en-US" b="1" dirty="0"/>
              <a:t> : here 1</a:t>
            </a:r>
            <a:r>
              <a:rPr lang="en-US" b="1" baseline="30000" dirty="0"/>
              <a:t>st</a:t>
            </a:r>
            <a:r>
              <a:rPr lang="en-US" b="1" dirty="0"/>
              <a:t> insight the defaulter is belong from  high interest bucket. </a:t>
            </a:r>
          </a:p>
          <a:p>
            <a:pPr marL="0" indent="0">
              <a:buClr>
                <a:schemeClr val="bg1"/>
              </a:buClr>
              <a:buSzPct val="100000"/>
              <a:buNone/>
            </a:pPr>
            <a:r>
              <a:rPr lang="en-US" b="1" dirty="0">
                <a:solidFill>
                  <a:srgbClr val="0C75AC"/>
                </a:solidFill>
              </a:rPr>
              <a:t>why happened </a:t>
            </a:r>
            <a:r>
              <a:rPr lang="en-US" b="1" dirty="0"/>
              <a:t>: 1.</a:t>
            </a:r>
            <a:r>
              <a:rPr lang="en-US" dirty="0"/>
              <a:t> due to high interest rate </a:t>
            </a:r>
            <a:br>
              <a:rPr lang="en-US" dirty="0"/>
            </a:br>
            <a:r>
              <a:rPr lang="en-US" b="1" dirty="0">
                <a:solidFill>
                  <a:srgbClr val="0C75AC"/>
                </a:solidFill>
              </a:rPr>
              <a:t>Solution </a:t>
            </a:r>
            <a:r>
              <a:rPr lang="en-US" b="1" dirty="0"/>
              <a:t>:</a:t>
            </a:r>
            <a:r>
              <a:rPr lang="en-US" dirty="0"/>
              <a:t> 1. strive to provide to loan in low interest rate </a:t>
            </a:r>
            <a:br>
              <a:rPr lang="en-US" dirty="0"/>
            </a:br>
            <a:endParaRPr lang="en-US" dirty="0"/>
          </a:p>
          <a:p>
            <a:pPr>
              <a:buClr>
                <a:schemeClr val="bg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FF0000"/>
                </a:solidFill>
                <a:latin typeface="Arial Black" panose="020B0A04020102020204" pitchFamily="34" charset="0"/>
              </a:rPr>
              <a:t> issue</a:t>
            </a:r>
            <a:r>
              <a:rPr lang="en-US" b="1" dirty="0"/>
              <a:t> :  here 2</a:t>
            </a:r>
            <a:r>
              <a:rPr lang="en-US" b="1" baseline="30000" dirty="0"/>
              <a:t>nd</a:t>
            </a:r>
            <a:r>
              <a:rPr lang="en-US" b="1" dirty="0"/>
              <a:t> insight the lowest recovery is the Patiala </a:t>
            </a:r>
          </a:p>
          <a:p>
            <a:pPr marL="0" indent="0">
              <a:buClr>
                <a:schemeClr val="bg1"/>
              </a:buClr>
              <a:buSzPct val="100000"/>
              <a:buNone/>
            </a:pPr>
            <a:r>
              <a:rPr lang="en-US" b="1" dirty="0">
                <a:solidFill>
                  <a:srgbClr val="0C75AC"/>
                </a:solidFill>
              </a:rPr>
              <a:t>why happened : </a:t>
            </a:r>
            <a:r>
              <a:rPr lang="en-US" b="1" dirty="0"/>
              <a:t>Regional economic conditions</a:t>
            </a:r>
            <a:r>
              <a:rPr lang="en-US" dirty="0"/>
              <a:t> may be affecting repayment ability in some areas.</a:t>
            </a:r>
            <a:endParaRPr lang="en-US" b="1" dirty="0">
              <a:solidFill>
                <a:srgbClr val="0C75AC"/>
              </a:solidFill>
            </a:endParaRPr>
          </a:p>
          <a:p>
            <a:pPr marL="0" indent="0">
              <a:buClr>
                <a:schemeClr val="bg1"/>
              </a:buClr>
              <a:buSzPct val="100000"/>
              <a:buNone/>
            </a:pPr>
            <a:r>
              <a:rPr lang="en-US" b="1" dirty="0">
                <a:solidFill>
                  <a:srgbClr val="0C75AC"/>
                </a:solidFill>
              </a:rPr>
              <a:t>Solution </a:t>
            </a:r>
            <a:r>
              <a:rPr lang="en-US" b="1" dirty="0"/>
              <a:t>: Strengthen follow-up &amp; customer communication</a:t>
            </a:r>
            <a:r>
              <a:rPr lang="en-US" dirty="0"/>
              <a:t> (SMS, calls, field visits).</a:t>
            </a:r>
          </a:p>
          <a:p>
            <a:pPr marL="0" indent="0">
              <a:buFont typeface="Arial" pitchFamily="34" charset="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437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412" y="817043"/>
            <a:ext cx="6545581" cy="1243584"/>
          </a:xfrm>
        </p:spPr>
        <p:txBody>
          <a:bodyPr/>
          <a:lstStyle/>
          <a:p>
            <a:r>
              <a:rPr lang="en-US" dirty="0"/>
              <a:t>Thank You…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BA5757-F231-4DF5-91DD-D0127B56562F}"/>
              </a:ext>
            </a:extLst>
          </p:cNvPr>
          <p:cNvSpPr/>
          <p:nvPr/>
        </p:nvSpPr>
        <p:spPr>
          <a:xfrm>
            <a:off x="3626223" y="3073115"/>
            <a:ext cx="840889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Open to feedback and insights that can help me improve further….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1058</TotalTime>
  <Words>655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Arial</vt:lpstr>
      <vt:lpstr>Arial Black</vt:lpstr>
      <vt:lpstr>Arial Rounded MT Bold</vt:lpstr>
      <vt:lpstr>Calibri</vt:lpstr>
      <vt:lpstr>Century Schoolbook</vt:lpstr>
      <vt:lpstr>Courier New</vt:lpstr>
      <vt:lpstr>Tahoma</vt:lpstr>
      <vt:lpstr>Trade Gothic LT Pro</vt:lpstr>
      <vt:lpstr>Wingdings</vt:lpstr>
      <vt:lpstr>Wingdings 2</vt:lpstr>
      <vt:lpstr>View</vt:lpstr>
      <vt:lpstr> Presented by  Prajwal Ratnaparkhi  Data Analytics | Bank Analytics Project </vt:lpstr>
      <vt:lpstr>Introduction </vt:lpstr>
      <vt:lpstr>PowerPoint Presentation</vt:lpstr>
      <vt:lpstr>Challenge and solution</vt:lpstr>
      <vt:lpstr>PowerPoint Presentation</vt:lpstr>
      <vt:lpstr>Challenge and solution </vt:lpstr>
      <vt:lpstr>PowerPoint Presentation</vt:lpstr>
      <vt:lpstr>Challenge and solution</vt:lpstr>
      <vt:lpstr>PowerPoint Presentation</vt:lpstr>
      <vt:lpstr>Challenge and solution </vt:lpstr>
      <vt:lpstr>Thank You…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 Group-06 Bank Analytics P1055</dc:title>
  <dc:creator>Vinit Mohite</dc:creator>
  <cp:lastModifiedBy>DELL</cp:lastModifiedBy>
  <cp:revision>76</cp:revision>
  <dcterms:created xsi:type="dcterms:W3CDTF">2025-11-23T13:41:23Z</dcterms:created>
  <dcterms:modified xsi:type="dcterms:W3CDTF">2026-02-03T12:07:22Z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